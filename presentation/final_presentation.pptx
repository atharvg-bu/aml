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7065"/>
    <p:restoredTop sz="94610"/>
  </p:normalViewPr>
  <p:slideViewPr>
    <p:cSldViewPr snapToGrid="0" snapToObjects="1">
      <p:cViewPr>
        <p:scale>
          <a:sx n="116" d="100"/>
          <a:sy n="116" d="100"/>
        </p:scale>
        <p:origin x="160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5943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 opens. Introduce team, project, and the two datasets. Keep it short — full intro lasts ~25 seconds before moving to the problem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1: explain why accuracy is the wrong success measure under extreme imbalance.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1: walk left to right through the 5 steps. Tie back to the rubric (collection, cleaning, features, modeling, results).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2: name the datasets, justify, and tee up the overview chart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2: point at the size + prevalence + amount-skew panels and tie each to a downstream design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2: emphasize the leak-prone columns are kept for analysis, never given to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2: stress that the ranking power comes from BEHAVIOR features, not just raw amount or currency.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3: open the visualization section. Focus on the takeaway, not every cell of the heatmap.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3: tie this back to the feature engineering slide — the signal validates the design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3: explain why we benchmark, why ensemble wins, and why the threshold is locked from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4: open the results section by talking through how the threshold is chosen and why diagnostics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4: walk the row of big metrics, then point at the test row in the table to confirm 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EAD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CS 506  ·  Data Science  ·  Final Project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AML Risk Detection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8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suspicious transactions on merged IBM + SAML-D data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1005840" cy="64008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4023360"/>
            <a:ext cx="2606040" cy="1005840"/>
          </a:xfrm>
          <a:prstGeom prst="rect">
            <a:avLst/>
          </a:prstGeom>
          <a:solidFill>
            <a:srgbClr val="081628"/>
          </a:solidFill>
          <a:ln w="6350">
            <a:solidFill>
              <a:srgbClr val="D4A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4023360"/>
            <a:ext cx="2606040" cy="45720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D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Zukhriddin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4434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Goal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29000" y="4023360"/>
            <a:ext cx="2606040" cy="1005840"/>
          </a:xfrm>
          <a:prstGeom prst="rect">
            <a:avLst/>
          </a:prstGeom>
          <a:solidFill>
            <a:srgbClr val="081628"/>
          </a:solidFill>
          <a:ln w="6350">
            <a:solidFill>
              <a:srgbClr val="D4A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29000" y="4023360"/>
            <a:ext cx="2606040" cy="45720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93592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D89B"/>
                </a:solidFill>
                <a:latin typeface="Calibri" pitchFamily="34" charset="0"/>
                <a:cs typeface="Calibri" pitchFamily="34" charset="-120"/>
              </a:rPr>
              <a:t>Jaswanth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93592" y="4434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Data, Cleaning, Features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0" y="4023360"/>
            <a:ext cx="2606040" cy="1005840"/>
          </a:xfrm>
          <a:prstGeom prst="rect">
            <a:avLst/>
          </a:prstGeom>
          <a:solidFill>
            <a:srgbClr val="081628"/>
          </a:solidFill>
          <a:ln w="6350">
            <a:solidFill>
              <a:srgbClr val="D4A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17920" y="4023360"/>
            <a:ext cx="2606040" cy="45720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82512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D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Atharv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82512" y="4434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Visuals &amp; Modeling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06840" y="4023360"/>
            <a:ext cx="2606040" cy="1005840"/>
          </a:xfrm>
          <a:prstGeom prst="rect">
            <a:avLst/>
          </a:prstGeom>
          <a:solidFill>
            <a:srgbClr val="081628"/>
          </a:solidFill>
          <a:ln w="6350">
            <a:solidFill>
              <a:srgbClr val="D4A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06840" y="4023360"/>
            <a:ext cx="2606040" cy="45720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71432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 err="1">
                <a:solidFill>
                  <a:srgbClr val="EAD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Assylkhan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71432" y="4434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Limitations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 ·  README.md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5989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 ·  YouTube link in README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 ·  IBM AML  +  SAML-D synthetic transaction monitoring data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A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CS 506 Data Science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0" y="228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4A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AML detection is a rare-event triage problem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process huge volumes of transactions, but investigators can only review a tiny fraction.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731520" cy="54864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365760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1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657600" cy="54864"/>
          </a:xfrm>
          <a:prstGeom prst="rect">
            <a:avLst/>
          </a:prstGeom>
          <a:solidFill>
            <a:srgbClr val="B04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04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Extreme class imbalance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Laundering accounts for ~0.1% of transactions. Plain accuracy can ignore the positive class entirely and still look 'good'.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2331720"/>
            <a:ext cx="365760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1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43400" y="2331720"/>
            <a:ext cx="3657600" cy="54864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1772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Asymmetric costs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17720" y="310896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laundering creates regulatory exposure. Excess false positives bury analysts and slow real cases.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0" y="2331720"/>
            <a:ext cx="365760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1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0" y="2331720"/>
            <a:ext cx="3657600" cy="54864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0392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Ranking matters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03920" y="310896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useful model puts the riskiest transactions at the top of a finite review queue, not just labels them.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532120"/>
            <a:ext cx="11247120" cy="8686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5532120"/>
            <a:ext cx="109728" cy="868680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5623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AD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58795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an AML risk-ranking pipeline that puts truly suspicious transactions at the top of a finite review queue.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focuses on PR-AUC, PR lift, precision/recall/F1, and precision-at-k / lift-at-k.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A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CS 506 Data Science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0" y="228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4A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pipeline: raw transactions to ranked alerts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reproducible notebook merges, cleans, engineers, models, and evaluates — chronologically split end-to-end.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731520" cy="54864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6052" y="2468880"/>
            <a:ext cx="21488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6052" y="2468880"/>
            <a:ext cx="2148840" cy="54864"/>
          </a:xfrm>
          <a:prstGeom prst="rect">
            <a:avLst/>
          </a:prstGeom>
          <a:solidFill>
            <a:srgbClr val="B04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39012" y="2830068"/>
            <a:ext cx="502920" cy="502920"/>
          </a:xfrm>
          <a:prstGeom prst="ellipse">
            <a:avLst/>
          </a:prstGeom>
          <a:solidFill>
            <a:srgbClr val="B04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39012" y="2798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6052" y="33832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0644" y="3749040"/>
            <a:ext cx="1819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AML + SAML-D pulled via KaggleHub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83180" y="3461004"/>
            <a:ext cx="109728" cy="73152"/>
          </a:xfrm>
          <a:prstGeom prst="rightArrow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11196" y="2468880"/>
            <a:ext cx="21488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11196" y="2468880"/>
            <a:ext cx="2148840" cy="54864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534156" y="2839212"/>
            <a:ext cx="502920" cy="502920"/>
          </a:xfrm>
          <a:prstGeom prst="ellipse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34156" y="2798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711196" y="33832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D4A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875788" y="3749040"/>
            <a:ext cx="1819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schema, leak-prone columns dropped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78324" y="3461004"/>
            <a:ext cx="109728" cy="73152"/>
          </a:xfrm>
          <a:prstGeom prst="rightArrow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06340" y="2468880"/>
            <a:ext cx="21488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06340" y="2468880"/>
            <a:ext cx="2148840" cy="54864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829300" y="2839212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29300" y="2798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06340" y="33832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70932" y="3749040"/>
            <a:ext cx="1819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numeric + 5 categorical history features + Isolation Forest score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73468" y="3461004"/>
            <a:ext cx="109728" cy="73152"/>
          </a:xfrm>
          <a:prstGeom prst="rightArrow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301484" y="2468880"/>
            <a:ext cx="21488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301484" y="2468880"/>
            <a:ext cx="2148840" cy="54864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24444" y="2848356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124444" y="2798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301484" y="33832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466076" y="3749040"/>
            <a:ext cx="1819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6 tree models + weighted ensemble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468612" y="3461004"/>
            <a:ext cx="109728" cy="73152"/>
          </a:xfrm>
          <a:prstGeom prst="rightArrow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596628" y="2468880"/>
            <a:ext cx="21488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596628" y="2468880"/>
            <a:ext cx="2148840" cy="54864"/>
          </a:xfrm>
          <a:prstGeom prst="rect">
            <a:avLst/>
          </a:prstGeom>
          <a:solidFill>
            <a:srgbClr val="3F7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0419588" y="2848356"/>
            <a:ext cx="502920" cy="502920"/>
          </a:xfrm>
          <a:prstGeom prst="ellipse">
            <a:avLst/>
          </a:prstGeom>
          <a:solidFill>
            <a:srgbClr val="3F7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419588" y="2798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9596628" y="33832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3F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761220" y="3749040"/>
            <a:ext cx="1819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threshold; report precision-at-k / lift-at-k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Reproducibility: the README runs `make all`, `make download`, and `make reproduce`.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57200" y="562356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" y="56235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828800" y="562356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828800" y="56235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JUPYTERLAB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00400" y="562356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200400" y="56235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MAKEFILE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0" y="562356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572000" y="562356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355080" y="562356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355080" y="56235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726680" y="562356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726680" y="56235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098280" y="56235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098280" y="56235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0744200" y="562356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0744200" y="562356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implemented in ds_final.ipynb · helpers in src/ · CI in .github/workflows/ci.yml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A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CS 506 Data Science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0" y="228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4A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complementary public AML datasets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synthetic and labeled, which makes evaluation possible while we are realistic about generalization limits.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731520" cy="54864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54864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1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5486400" cy="54864"/>
          </a:xfrm>
          <a:prstGeom prst="rect">
            <a:avLst/>
          </a:prstGeom>
          <a:solidFill>
            <a:srgbClr val="B04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5420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TRANSACTIONS FOR AML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IBM AML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bank-style transaction stream with explicit laundering labels.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structure across senders, receivers, banks, and currencies.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time window of the chronological split.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2331720"/>
            <a:ext cx="54864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1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2331720"/>
            <a:ext cx="5486400" cy="54864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92240" y="25420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SAML-D · SYNTHETIC TRANSACTION MONITORING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834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SAML-D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92240" y="333756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AML monitoring dataset with multiple laundering typologies.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payment formats and currencies, longer recent time range.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held-out test windows.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5440680"/>
            <a:ext cx="11247120" cy="8686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5440680"/>
            <a:ext cx="109728" cy="868680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5532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AD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MERGE THEM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788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both yields more behavior diversity, lets us standardize one schema, and makes the chronological split possible across two non-overlapping time ranges.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Kaggle (IBM AML, SAML-D) · downloaded via data/download.py with KaggleHub.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A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CS 506 Data Science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0" y="228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4A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merged dataset looks like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 differ, laundering rate is tiny, and amounts span several orders of magnitude.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731520" cy="54864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sessions/determined-friendly-knuth/mnt/AML/reports/figures/dataset_overview_fin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240280"/>
            <a:ext cx="7680960" cy="4023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0" y="2240280"/>
            <a:ext cx="32918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1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412480" y="2240280"/>
            <a:ext cx="3291840" cy="54864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59536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A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OVERVIEW SHOWS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595360" y="283464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sources contribute,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but at different scales.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Laundering is rare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about 0.1% of transactions.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 are heavily skewed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is why we use a log axis and amount-shape features.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reports/figures/dataset_overview_final.png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A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CS 506 Data Science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0" y="228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4A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Cleaning produces one fair shared schema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sources standardized; leak-prone shortcuts excluded; rows ordered chronologically before any history feature.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731520" cy="54864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5486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1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5486400" cy="54864"/>
          </a:xfrm>
          <a:prstGeom prst="rect">
            <a:avLst/>
          </a:prstGeom>
          <a:solidFill>
            <a:srgbClr val="B04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2660904"/>
            <a:ext cx="502920" cy="502920"/>
          </a:xfrm>
          <a:prstGeom prst="ellipse">
            <a:avLst/>
          </a:prstGeom>
          <a:solidFill>
            <a:srgbClr val="B04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642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17320" y="2606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Standardize the schema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04495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both datasets to common timestamp, sender, receiver, banks, accounts, amount, currencies, and label fields.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331720"/>
            <a:ext cx="5486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1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17920" y="2331720"/>
            <a:ext cx="5486400" cy="54864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92240" y="2660904"/>
            <a:ext cx="502920" cy="502920"/>
          </a:xfrm>
          <a:prstGeom prst="ellipse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92240" y="2642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178040" y="2606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 and coerce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78040" y="304495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timestamps with errors="coerce"; coerce numeric amounts; drop rows without a usable amount.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5486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1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5486400" cy="54864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0" y="4329146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4288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17320" y="4251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Normalize text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17320" y="469087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bank, account, currency, and payment-format strings so categorical encoders see the same value across both sources.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3977640"/>
            <a:ext cx="5486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1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17920" y="3977640"/>
            <a:ext cx="5486400" cy="54864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92240" y="4315968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92240" y="4288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178040" y="4251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 down leakage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78040" y="469087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`laundering_type` and `source_dataset` for auditing only — they are excluded from the model's feature set.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5715000"/>
            <a:ext cx="11247120" cy="6400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7200" y="5715000"/>
            <a:ext cx="109728" cy="640080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sort happens BEFORE any cumulative feature is computed — every row only sees its past.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logic implemented in ds_final.ipynb (and mirrored in src/preprocessing.py for unit tests).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A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CS 506 Data Science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0" y="228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4A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describe behavior around each transaction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metadata becomes far more informative when each row is compared against its own history.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731520" cy="54864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347472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1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474720" cy="54864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A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 features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categorical · 53 numeric · 1 anomaly score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3200400" cy="36576"/>
          </a:xfrm>
          <a:prstGeom prst="rect">
            <a:avLst/>
          </a:prstGeom>
          <a:solidFill>
            <a:srgbClr val="D9D0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32004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from_bank · to_bank · payment_currency · receiving_currency · payment_format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an Isolation Forest anomaly score appended before supervised training.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06240" y="2331720"/>
            <a:ext cx="74980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06240" y="2331720"/>
            <a:ext cx="109728" cy="676656"/>
          </a:xfrm>
          <a:prstGeom prst="rect">
            <a:avLst/>
          </a:prstGeom>
          <a:solidFill>
            <a:srgbClr val="B04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98848" y="2377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4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Amount context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98848" y="2660904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amount, log amount, z-scores, pair amount-share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06240" y="3118104"/>
            <a:ext cx="74980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06240" y="3118104"/>
            <a:ext cx="109728" cy="676656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98848" y="31638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context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98848" y="3447288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hour, weekday, weekend flag, gaps since prior related transactions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06240" y="3904488"/>
            <a:ext cx="74980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206240" y="3904488"/>
            <a:ext cx="109728" cy="676656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98848" y="39502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 context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98848" y="423367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sender, receiver, pair, and route counts (per-day and cumulative)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06240" y="4690872"/>
            <a:ext cx="74980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206240" y="4690872"/>
            <a:ext cx="109728" cy="676656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98848" y="4736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Novelty context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98848" y="5020056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counterparties, new banks, new currencies, first-seen flags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206240" y="5477256"/>
            <a:ext cx="74980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206240" y="5477256"/>
            <a:ext cx="109728" cy="676656"/>
          </a:xfrm>
          <a:prstGeom prst="rect">
            <a:avLst/>
          </a:prstGeom>
          <a:solidFill>
            <a:srgbClr val="3F7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498848" y="55229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7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Behavioral history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498848" y="5806440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mean / std of amounts and trajectory features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guardrail: every cumulative feature is computed from prior rows only. Cached to parquet for repeat runs.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A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CS 506 Data Science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0" y="228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4A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 1 — Laundering rate is not uniform in time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weekday × hour heatmap motivates calendar / time-window features in the model.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731520" cy="54864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sessions/determined-friendly-knuth/mnt/AML/reports/figures/temporal_patterns_fin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240280"/>
            <a:ext cx="7863840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95360" y="2240280"/>
            <a:ext cx="310896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1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595360" y="2240280"/>
            <a:ext cx="3108960" cy="54864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778240" y="2468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HEATMAP TELLS US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778240" y="283464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rate moves with weekday and hour.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prove timing causes laundering — it just gives the model useful context.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heatmap also avoids overplotting millions of rows by aggregating to a clean grid.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reports/figures/temporal_patterns_final.png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A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CS 506 Data Science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0" y="228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4A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 2 — History features carry the strongest signal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views and tree feature importance both rank behavior + relationship features above raw metadata.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731520" cy="54864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sessions/determined-friendly-knuth/mnt/AML/reports/figures/feature_association_views_fin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240280"/>
            <a:ext cx="6949440" cy="3291840"/>
          </a:xfrm>
          <a:prstGeom prst="rect">
            <a:avLst/>
          </a:prstGeom>
        </p:spPr>
      </p:pic>
      <p:pic>
        <p:nvPicPr>
          <p:cNvPr id="9" name="Image 1" descr="/sessions/determined-friendly-knuth/mnt/AML/reports/figures/feature_importance_fina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89520" y="2240280"/>
            <a:ext cx="4114800" cy="32918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55321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association — numeric &amp; categorical signal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589520" y="5532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Tree-model feature importance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57200" y="5852160"/>
            <a:ext cx="109728" cy="502920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77240" y="58978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pair history, sender / receiver history, route patterns, and currency context outrank raw amount. Laundering is a pattern across transactions, not one isolated row.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Figures: reports/figures/feature_association_views_final.png · feature_importance_final.png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A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CS 506 Data Science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0" y="228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4A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candidates benchmarked, one ensemble selected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 on a chronological 64 / 16 / 20 split. Final pick is the validation winner — frozen before test.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731520" cy="54864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6858000" cy="292608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PR-AUC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D4A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weighted ensemble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xgb recall focused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xgb undersampled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xgb regularized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hist gradient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extra trees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balanced 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498080" y="2331720"/>
            <a:ext cx="42062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1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98080" y="2331720"/>
            <a:ext cx="4206240" cy="54864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8"/>
          <p:cNvSpPr/>
          <p:nvPr/>
        </p:nvSpPr>
        <p:spPr>
          <a:xfrm>
            <a:off x="7680960" y="2542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680960" y="2834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Weighted Ensemble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680960" y="3337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regularized + recall-focused + undersampled XGBoost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80960" y="3822192"/>
            <a:ext cx="3931920" cy="36576"/>
          </a:xfrm>
          <a:prstGeom prst="rect">
            <a:avLst/>
          </a:prstGeom>
          <a:solidFill>
            <a:srgbClr val="D9D0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680960" y="3931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THRESHOLD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680960" y="42062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4A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0.925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7680960" y="4892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best-F1 operating point on validation; reused for test.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80960" y="5349240"/>
            <a:ext cx="3931920" cy="36576"/>
          </a:xfrm>
          <a:prstGeom prst="rect">
            <a:avLst/>
          </a:prstGeom>
          <a:solidFill>
            <a:srgbClr val="D9D0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680960" y="54406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tree ensembles? Tabular, mixed numeric / categorical, heavy class imbalance, non-linear interactions.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reports/artifacts/candidate_results.csv · star marks the selected model.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A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CS 506 Data Science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0" y="228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4A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Threshold and diagnostics — operating the model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choice is an operations decision. Diagnostics show strong score separation and PR behavior.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731520" cy="54864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sessions/determined-friendly-knuth/mnt/AML/reports/figures/threshold_sweep_fin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5228" y="2322576"/>
            <a:ext cx="5486400" cy="3520440"/>
          </a:xfrm>
          <a:prstGeom prst="rect">
            <a:avLst/>
          </a:prstGeom>
        </p:spPr>
      </p:pic>
      <p:pic>
        <p:nvPicPr>
          <p:cNvPr id="9" name="Image 1" descr="/sessions/determined-friendly-knuth/mnt/AML/reports/figures/model_diagnostics_fina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23068" y="2331720"/>
            <a:ext cx="6323704" cy="35204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58704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sweep — precision / recall / F1 / alert rate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126480" y="587044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· ROC · Precision-Recall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6144768"/>
            <a:ext cx="11247120" cy="3657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57200" y="6144768"/>
            <a:ext cx="109728" cy="365760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77240" y="616305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threshold → more alerts and recall.  Higher threshold → fewer alerts but more misses.  Operating point chosen at validation F1 peak (0.925).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Figures: threshold_sweep_final.png · model_diagnostics_final.png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A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CS 506 Data Science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0" y="228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4A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Held-out test results — strong on every imbalance metric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on the chronological test window with the validation-frozen threshold of 0.925.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731520" cy="54864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21945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1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2194560" cy="54864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0.9851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PR-AUC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34640" y="2331720"/>
            <a:ext cx="21945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1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834640" y="2331720"/>
            <a:ext cx="2194560" cy="54864"/>
          </a:xfrm>
          <a:prstGeom prst="rect">
            <a:avLst/>
          </a:prstGeom>
          <a:solidFill>
            <a:srgbClr val="B04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34640" y="254203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04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0.9941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83464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0" y="2331720"/>
            <a:ext cx="21945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1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212080" y="2331720"/>
            <a:ext cx="2194560" cy="54864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12080" y="254203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0.9487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21208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89520" y="2331720"/>
            <a:ext cx="21945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1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589520" y="2331720"/>
            <a:ext cx="2194560" cy="54864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89520" y="254203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0.9709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58952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966960" y="2331720"/>
            <a:ext cx="21945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1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966960" y="2331720"/>
            <a:ext cx="2194560" cy="54864"/>
          </a:xfrm>
          <a:prstGeom prst="rect">
            <a:avLst/>
          </a:prstGeom>
          <a:solidFill>
            <a:srgbClr val="3F7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966960" y="254203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F7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904×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96696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LIFT vs BASELINE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23360"/>
          <a:ext cx="11247120" cy="16459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lift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780.6×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930.2×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D4A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903.8×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row is highlighted — the model's PR-AUC stays at 0.985 with precision 0.994 / recall 0.949 on the unseen window.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reports/artifacts/metrics.json · split_metrics.csv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0" y="320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400" dirty="0">
                <a:solidFill>
                  <a:srgbClr val="EAD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   ·   CLOSE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ranking actually means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of the alert queue is dense with true positives — exactly where investigators look first.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914400" cy="64008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sessions/determined-friendly-knuth/mnt/AML/reports/figures/rank_diagnostics_fin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2194560"/>
            <a:ext cx="6035040" cy="3108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440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4A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99.97%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640080" y="6053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8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in top 0.1% of ranked alerts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749040" y="5440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9FD6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91.7%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3749040" y="6053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8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positives recovered in that same slice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949440" y="2194560"/>
            <a:ext cx="4754880" cy="4297680"/>
          </a:xfrm>
          <a:prstGeom prst="rect">
            <a:avLst/>
          </a:prstGeom>
          <a:solidFill>
            <a:srgbClr val="081628"/>
          </a:solidFill>
          <a:ln w="6350">
            <a:solidFill>
              <a:srgbClr val="D4A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949440" y="2194560"/>
            <a:ext cx="73152" cy="4297680"/>
          </a:xfrm>
          <a:prstGeom prst="rect">
            <a:avLst/>
          </a:prstGeom>
          <a:solidFill>
            <a:srgbClr val="D4A6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78040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AD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178040" y="2651760"/>
            <a:ext cx="4389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datasets are synthetic — these results should not be read as production performance.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DD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D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test windows are effectively SAML-D-only.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DD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D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separability likely reflects the cleaner synthetic labels.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178040" y="4526280"/>
            <a:ext cx="4389120" cy="27432"/>
          </a:xfrm>
          <a:prstGeom prst="rect">
            <a:avLst/>
          </a:prstGeom>
          <a:solidFill>
            <a:srgbClr val="233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178040" y="4617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AD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178040" y="493776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transaction-graph features · validate on less synthetic data · calibrate threshold to investigator capacity · monitor drift across later windows.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solidFill>
            <a:srgbClr val="08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77240" y="6464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kern="0" spc="200" dirty="0">
                <a:solidFill>
                  <a:srgbClr val="EAD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is the final report  ·  Recording link at the top  ·  make download → make reproduce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1864</Words>
  <Application>Microsoft Macintosh PowerPoint</Application>
  <PresentationFormat>Widescreen</PresentationFormat>
  <Paragraphs>295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Boston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AML Risk Detection</dc:title>
  <dc:subject>PptxGenJS Presentation</dc:subject>
  <dc:creator>BU CS 506 Final Project</dc:creator>
  <cp:lastModifiedBy>Fakhriddinov, Zukhriddin</cp:lastModifiedBy>
  <cp:revision>3</cp:revision>
  <dcterms:created xsi:type="dcterms:W3CDTF">2026-04-26T01:22:05Z</dcterms:created>
  <dcterms:modified xsi:type="dcterms:W3CDTF">2026-04-28T00:22:27Z</dcterms:modified>
</cp:coreProperties>
</file>